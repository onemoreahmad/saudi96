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Cairo"/>
      <p:regular r:id="rId19"/>
      <p:bold r:id="rId20"/>
    </p:embeddedFont>
    <p:embeddedFont>
      <p:font typeface="Tajawal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iro-bold.fntdata"/><Relationship Id="rId11" Type="http://schemas.openxmlformats.org/officeDocument/2006/relationships/slide" Target="slides/slide6.xml"/><Relationship Id="rId22" Type="http://schemas.openxmlformats.org/officeDocument/2006/relationships/font" Target="fonts/Tajawal-bold.fntdata"/><Relationship Id="rId10" Type="http://schemas.openxmlformats.org/officeDocument/2006/relationships/slide" Target="slides/slide5.xml"/><Relationship Id="rId21" Type="http://schemas.openxmlformats.org/officeDocument/2006/relationships/font" Target="fonts/Tajawal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air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513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4710112" y="2438400"/>
            <a:ext cx="2771775" cy="333375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9462" y="2495550"/>
            <a:ext cx="1619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554140" y="2495550"/>
            <a:ext cx="30837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المناسبة الوطنية المجيدة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420415" y="3009900"/>
            <a:ext cx="9351168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اليوم الوطني السعودي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643062" y="4023270"/>
            <a:ext cx="89058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ECFDF5"/>
                </a:solidFill>
                <a:latin typeface="Tajawal"/>
                <a:ea typeface="Tajawal"/>
                <a:cs typeface="Tajawal"/>
                <a:sym typeface="Tajawal"/>
              </a:rPr>
              <a:t>اعتزاز بالماضي.. وصناعة للمستقبل تحت راية التوحيد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-404812" y="2488852"/>
            <a:ext cx="1300162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محطات من التاريخ والتوحيد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-404812" y="4003327"/>
            <a:ext cx="130016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47857"/>
                </a:solidFill>
                <a:latin typeface="Tajawal"/>
                <a:ea typeface="Tajawal"/>
                <a:cs typeface="Tajawal"/>
                <a:sym typeface="Tajawal"/>
              </a:rPr>
              <a:t>قصة ملحمة وطنية خالدة سطّرها الملك المؤسس عبد العزيز آل سعود - طيب الله ثراه -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10858500" y="1333500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987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8598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-80962" y="571500"/>
            <a:ext cx="117014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إعلان توحيد المملكة العربية السعودية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191250" y="2786062"/>
            <a:ext cx="5429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في الـ 23 من سبتمبر عام 1932م (الموافق 21 جمادى الأولى 1351هـ)، أُعلن رسمياً توحيد أرجاء الوطن تحت اسم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«المملكة العربية السعودية»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191250" y="3843337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جاء هذا الإعلان التاريخي بعد جهود مخلصة ومسيرة كفاح استمرت لعقود تمكّن فيها الملك عبد العزيز من جمع الشمل ولمّ الشتات.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191250" y="4595812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تحول هذا اليوم إلى رمز سنوي للفخر، يجسد تلاحم الشعب مع قيادته الرشيدة واعتزازه بهويته الإسـلامية والعربية الأصيلة.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/>
          <p:nvPr/>
        </p:nvSpPr>
        <p:spPr>
          <a:xfrm>
            <a:off x="10858500" y="1333500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7391400" y="2905125"/>
            <a:ext cx="4229100" cy="2181225"/>
          </a:xfrm>
          <a:prstGeom prst="roundRect">
            <a:avLst>
              <a:gd fmla="val 8733" name="adj"/>
            </a:avLst>
          </a:prstGeom>
          <a:solidFill>
            <a:srgbClr val="0563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-80962" y="571500"/>
            <a:ext cx="117014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أرقام ودلالات تاريخية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339012" y="3286125"/>
            <a:ext cx="433387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BBF24"/>
                </a:solidFill>
                <a:latin typeface="Cairo"/>
                <a:ea typeface="Cairo"/>
                <a:cs typeface="Cairo"/>
                <a:sym typeface="Cairo"/>
              </a:rPr>
              <a:t>1351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7339012" y="4429125"/>
            <a:ext cx="4333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عام التوحيد بالميزان الهجري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54304" y="2976562"/>
            <a:ext cx="676084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مسيرة عقود من العز والتمكين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76250" y="3652837"/>
            <a:ext cx="643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منذ التأسيس والتوحيد، انطلقت خطى الوطن بخطى ثابتة نحو البناء والتطوير في كافة المجالات التعليمية والصحية والاقتصادية.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76250" y="4405312"/>
            <a:ext cx="643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واليوم تشهد المملكة تحولاً تاريخياً استثنائياً يرسخ مكانتها بين أكبر اقتصاديات العالم وأكثرها تأثيراً ونمواً.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/>
          <p:nvPr/>
        </p:nvSpPr>
        <p:spPr>
          <a:xfrm>
            <a:off x="10858500" y="1333500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8127950" y="2519362"/>
            <a:ext cx="3492549" cy="295275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349650" y="2519362"/>
            <a:ext cx="3492549" cy="295275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351" y="2519362"/>
            <a:ext cx="3492549" cy="295275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17112" y="2814637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8812" y="2814637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60512" y="2814637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83799" y="30194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30194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65300" y="30194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-80962" y="571500"/>
            <a:ext cx="117014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ركائز الهوية الوطنية السعودية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969787" y="3719512"/>
            <a:ext cx="380887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الأصالة والقيم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060475" y="4262437"/>
            <a:ext cx="3627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الاعتزاز بالدين الإسلامي الحنيف والتراث العربي الخالد، والمحافظة على القيم والشيم الأصيلة.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191488" y="3719512"/>
            <a:ext cx="380887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الوحدة والتلاحم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282175" y="4262437"/>
            <a:ext cx="3627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الالتفاف والولاء القيادي والشعبي الذي يمثل السد المنيع والحصن الرفيع للوطن.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13188" y="3719512"/>
            <a:ext cx="380887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الطموح والنماء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03876" y="4262437"/>
            <a:ext cx="3627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السعي المستمر نحو الريادة العالمية والابتكار وصناعة مستقبل مزدهر للأجيال القادمة.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/>
          <p:nvPr/>
        </p:nvSpPr>
        <p:spPr>
          <a:xfrm>
            <a:off x="10858500" y="1333500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6319837" y="571500"/>
            <a:ext cx="53006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نهضة وشواهد حضارية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320438" y="3233737"/>
            <a:ext cx="339042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من الصحراء إلى عناق السحاب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572250" y="384333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شهدت مدن المملكة نهضة عمرانية واقتصادية نموذجية، حيث تحولت العاصمة الرياض ومختلف المناطق إلى مراكز مالية وثقافية عالمية تجمع بين عراقة الماضي وأحدث تقنيات العصر.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-404812" y="2488852"/>
            <a:ext cx="1300162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رؤية السعودية 2030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-404812" y="4003327"/>
            <a:ext cx="130016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47857"/>
                </a:solidFill>
                <a:latin typeface="Tajawal"/>
                <a:ea typeface="Tajawal"/>
                <a:cs typeface="Tajawal"/>
                <a:sym typeface="Tajawal"/>
              </a:rPr>
              <a:t>عهد جديد وخارطة طريق نحو مستقبل زاهر يقوده صاحب السمو الملكي ولي العهد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/>
          <p:nvPr/>
        </p:nvSpPr>
        <p:spPr>
          <a:xfrm>
            <a:off x="10858500" y="1333500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6286500" y="2871787"/>
            <a:ext cx="5334000" cy="2247900"/>
          </a:xfrm>
          <a:prstGeom prst="roundRect">
            <a:avLst>
              <a:gd fmla="val 67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71500" y="2871787"/>
            <a:ext cx="5334000" cy="2247900"/>
          </a:xfrm>
          <a:prstGeom prst="roundRect">
            <a:avLst>
              <a:gd fmla="val 67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6286500" y="511016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6286500" y="2871787"/>
            <a:ext cx="5334000" cy="476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6286500" y="2871787"/>
            <a:ext cx="9525" cy="2247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11610975" y="2871787"/>
            <a:ext cx="9525" cy="2247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71500" y="511016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71500" y="2871787"/>
            <a:ext cx="5334000" cy="476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71500" y="2871787"/>
            <a:ext cx="9525" cy="2247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895975" y="2871787"/>
            <a:ext cx="9525" cy="2247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3275" y="3367087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4950" y="3367087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-80962" y="571500"/>
            <a:ext cx="117014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محاور رؤية المملكة 2030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296977" y="3252787"/>
            <a:ext cx="498062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مجتمع حيوي واقتصاد مزدهر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534150" y="3862387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تمكين المواطنين، رفع جودة الحياة، فتح آفاق الاستثمار والاستفادة من الموقع الاستراتيجي للمملكة كمركز لوجستي محوري ينفتح على العالم.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81977" y="3252787"/>
            <a:ext cx="498062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وطن طموح وحوكمة فعالة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19150" y="3862387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تعزيز الكفاءة والشفافية في القطاع الحكومي، والتحول الرقمي الشامل لتسهيل الخدمات وتحقيق التنمية المستدامة والمحافظة على الموارد.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/>
          <p:nvPr/>
        </p:nvSpPr>
        <p:spPr>
          <a:xfrm>
            <a:off x="10206934" y="4043362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7371014" y="4043362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4535094" y="4043362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1699174" y="4043362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10858500" y="1333500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71500" y="4167187"/>
            <a:ext cx="11049000" cy="38100"/>
          </a:xfrm>
          <a:prstGeom prst="rect">
            <a:avLst/>
          </a:prstGeom>
          <a:solidFill>
            <a:srgbClr val="7063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9079259" y="4424362"/>
            <a:ext cx="2541240" cy="14859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6243339" y="2462212"/>
            <a:ext cx="2541240" cy="14859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407419" y="4424362"/>
            <a:ext cx="2541240" cy="14859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71500" y="2462212"/>
            <a:ext cx="2541240" cy="14859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-80962" y="571500"/>
            <a:ext cx="117014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محطات في تاريخ ومستقبل الوطن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8944723" y="4624387"/>
            <a:ext cx="28103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97706"/>
                </a:solidFill>
                <a:latin typeface="Cairo"/>
                <a:ea typeface="Cairo"/>
                <a:cs typeface="Cairo"/>
                <a:sym typeface="Cairo"/>
              </a:rPr>
              <a:t>1932 م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9011635" y="5100637"/>
            <a:ext cx="26764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إعلان توحيد المملكة العربية السعودية.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108803" y="2662237"/>
            <a:ext cx="28103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97706"/>
                </a:solidFill>
                <a:latin typeface="Cairo"/>
                <a:ea typeface="Cairo"/>
                <a:cs typeface="Cairo"/>
                <a:sym typeface="Cairo"/>
              </a:rPr>
              <a:t>1938 م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175716" y="3138487"/>
            <a:ext cx="26764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تدفق النفط وبداية الطفرة الاقتصادية.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3272883" y="4624387"/>
            <a:ext cx="28103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97706"/>
                </a:solidFill>
                <a:latin typeface="Cairo"/>
                <a:ea typeface="Cairo"/>
                <a:cs typeface="Cairo"/>
                <a:sym typeface="Cairo"/>
              </a:rPr>
              <a:t>2016 م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3339796" y="5100637"/>
            <a:ext cx="26764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إطلاق رؤية السعودية الطموحة 2030.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36964" y="2662237"/>
            <a:ext cx="28103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97706"/>
                </a:solidFill>
                <a:latin typeface="Cairo"/>
                <a:ea typeface="Cairo"/>
                <a:cs typeface="Cairo"/>
                <a:sym typeface="Cairo"/>
              </a:rPr>
              <a:t>2030 م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03876" y="3138487"/>
            <a:ext cx="26764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تحقيق التطلعات والريادة العالمية.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/>
          <p:nvPr/>
        </p:nvSpPr>
        <p:spPr>
          <a:xfrm>
            <a:off x="10858500" y="1333500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1333500" y="2243137"/>
            <a:ext cx="9525000" cy="704850"/>
          </a:xfrm>
          <a:prstGeom prst="roundRect">
            <a:avLst>
              <a:gd fmla="val 1621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1333500" y="3119437"/>
            <a:ext cx="9525000" cy="704850"/>
          </a:xfrm>
          <a:prstGeom prst="roundRect">
            <a:avLst>
              <a:gd fmla="val 1621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1333500" y="3995737"/>
            <a:ext cx="9525000" cy="704850"/>
          </a:xfrm>
          <a:prstGeom prst="roundRect">
            <a:avLst>
              <a:gd fmla="val 1621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1333500" y="4872037"/>
            <a:ext cx="9525000" cy="704850"/>
          </a:xfrm>
          <a:prstGeom prst="roundRect">
            <a:avLst>
              <a:gd fmla="val 1621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1333500" y="293846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1333500" y="381476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1333500" y="469106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1333500" y="556736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9875" y="24526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87025" y="33289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72725" y="42052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29875" y="50815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-80962" y="571500"/>
            <a:ext cx="117014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مظاهر وفعاليات الاحتفال باليوم الوطني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1857375" y="2433637"/>
            <a:ext cx="876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Tajawal"/>
                <a:ea typeface="Tajawal"/>
                <a:cs typeface="Tajawal"/>
                <a:sym typeface="Tajawal"/>
              </a:rPr>
              <a:t>العروض الجوية والبحرية: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استعراضات صقور السعودية والقطع البحرية في مختلف سماء وشواطئ المملكة.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1857375" y="3309937"/>
            <a:ext cx="876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Tajawal"/>
                <a:ea typeface="Tajawal"/>
                <a:cs typeface="Tajawal"/>
                <a:sym typeface="Tajawal"/>
              </a:rPr>
              <a:t>الإضاءات والأعلام: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توشح المباني والمعالم الرئيسية باللون الأخضر وعلم المملكة الشامخ.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857375" y="4186237"/>
            <a:ext cx="876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Tajawal"/>
                <a:ea typeface="Tajawal"/>
                <a:cs typeface="Tajawal"/>
                <a:sym typeface="Tajawal"/>
              </a:rPr>
              <a:t>المهرجانات الثقافية: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إقامة الفعاليات التراثية والفنية والعرضة السعودية التي تعكس ثقافة وموروث المناطق.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1857375" y="5062537"/>
            <a:ext cx="876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Tajawal"/>
                <a:ea typeface="Tajawal"/>
                <a:cs typeface="Tajawal"/>
                <a:sym typeface="Tajawal"/>
              </a:rPr>
              <a:t>تعزيز الانتماء: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مبادرات وطنية واجتماعية تبرز قيم التكافل والجود ومحبة الوطن.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10858500" y="1333500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1400175" y="2790825"/>
            <a:ext cx="9391650" cy="2409825"/>
          </a:xfrm>
          <a:prstGeom prst="roundRect">
            <a:avLst>
              <a:gd fmla="val 790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10715625" y="2790825"/>
            <a:ext cx="76200" cy="24098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-80962" y="571500"/>
            <a:ext cx="117014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همة تناطح السحاب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831056" y="3267075"/>
            <a:ext cx="10453687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"همة السعوديين مثل جبل طويق، ولن تنكسر إلا إذا انهد هذا الجبل وسوي بالأرض."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2099071" y="4495800"/>
            <a:ext cx="791765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97706"/>
                </a:solidFill>
                <a:latin typeface="Tajawal"/>
                <a:ea typeface="Tajawal"/>
                <a:cs typeface="Tajawal"/>
                <a:sym typeface="Tajawal"/>
              </a:rPr>
              <a:t>— صاحب السمو الملكي الأمير محمد بن سلمان بن عبد العزيز آل سعود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3D2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-404812" y="2477392"/>
            <a:ext cx="13001625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BBF24"/>
                </a:solidFill>
                <a:latin typeface="Cairo"/>
                <a:ea typeface="Cairo"/>
                <a:cs typeface="Cairo"/>
                <a:sym typeface="Cairo"/>
              </a:rPr>
              <a:t>دام عزك يا وطن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-404812" y="3953767"/>
            <a:ext cx="130016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CFDF5"/>
                </a:solidFill>
                <a:latin typeface="Tajawal"/>
                <a:ea typeface="Tajawal"/>
                <a:cs typeface="Tajawal"/>
                <a:sym typeface="Tajawal"/>
              </a:rPr>
              <a:t>كل عام والمملكة العربية السعودية وشعبها الكريم بخیر وأمان وازدهار مستمر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/>
          <p:nvPr/>
        </p:nvSpPr>
        <p:spPr>
          <a:xfrm>
            <a:off x="10858500" y="1333500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311660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38918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8918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8" name="Google Shape;25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3250" y="3266033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3250" y="41499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-80962" y="571500"/>
            <a:ext cx="117014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Cairo"/>
                <a:ea typeface="Cairo"/>
                <a:cs typeface="Cairo"/>
                <a:sym typeface="Cairo"/>
              </a:rPr>
              <a:t>Image Sources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-1916906" y="3259484"/>
            <a:ext cx="12442031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https://res.cloudinary.com/ddjuftfy2/image/upload/f_webp,c_fill,q_auto,w_500/memphis/xlarge/989408088_AlMasmak-fortress-riyadh.webp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-1916906" y="3505200"/>
            <a:ext cx="12442031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Tajawal"/>
                <a:ea typeface="Tajawal"/>
                <a:cs typeface="Tajawal"/>
                <a:sym typeface="Tajawal"/>
              </a:rPr>
              <a:t>www.memphistours.com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476250" y="4044255"/>
            <a:ext cx="100488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https://media.gettyimages.com/id/2233365785/video/aerial-view-of-riyadh-at-night-with-illuminated-modern-skyscrapers-and-busy-streets-under-a.jpg?s=640x640&amp;k=20&amp;c=0B2iIE-nw1lvPETQ2BDGzFsv1XPO8zopvDVun723FkI=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-1916906" y="4488060"/>
            <a:ext cx="12442031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Tajawal"/>
                <a:ea typeface="Tajawal"/>
                <a:cs typeface="Tajawal"/>
                <a:sym typeface="Tajawal"/>
              </a:rPr>
              <a:t>www.gettyimages.ae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