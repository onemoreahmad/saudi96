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odec Pro Bold" pitchFamily="2" charset="0"/>
      <p:regular r:id="rId8"/>
    </p:embeddedFont>
    <p:embeddedFont>
      <p:font typeface="Montserrat" pitchFamily="2" charset="0"/>
      <p:regular r:id="rId9"/>
    </p:embeddedFont>
    <p:embeddedFont>
      <p:font typeface="Montserrat Bold" pitchFamily="2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4575" y="0"/>
            <a:ext cx="18342575" cy="2652613"/>
            <a:chOff x="0" y="0"/>
            <a:chExt cx="24456767" cy="3536818"/>
          </a:xfrm>
        </p:grpSpPr>
        <p:sp>
          <p:nvSpPr>
            <p:cNvPr id="4" name="Freeform 4"/>
            <p:cNvSpPr/>
            <p:nvPr/>
          </p:nvSpPr>
          <p:spPr>
            <a:xfrm rot="-5400000">
              <a:off x="-21497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8" y="0"/>
                  </a:lnTo>
                  <a:lnTo>
                    <a:pt x="3536818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3472327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8" y="0"/>
                  </a:lnTo>
                  <a:lnTo>
                    <a:pt x="3536818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6966151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8" y="0"/>
                  </a:lnTo>
                  <a:lnTo>
                    <a:pt x="3536818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5400000">
              <a:off x="10459975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7" y="0"/>
                  </a:lnTo>
                  <a:lnTo>
                    <a:pt x="3536817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13953799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7" y="0"/>
                  </a:lnTo>
                  <a:lnTo>
                    <a:pt x="3536817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17447623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7" y="0"/>
                  </a:lnTo>
                  <a:lnTo>
                    <a:pt x="3536817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5400000">
              <a:off x="20941446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8" y="0"/>
                  </a:lnTo>
                  <a:lnTo>
                    <a:pt x="3536818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3000"/>
              </a:blip>
              <a:stretch>
                <a:fillRect l="-182581" t="-38560" r="-76352" b="-154844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-10800000">
            <a:off x="13994425" y="2547794"/>
            <a:ext cx="925811" cy="723816"/>
          </a:xfrm>
          <a:custGeom>
            <a:avLst/>
            <a:gdLst/>
            <a:ahLst/>
            <a:cxnLst/>
            <a:rect l="l" t="t" r="r" b="b"/>
            <a:pathLst>
              <a:path w="925811" h="723816">
                <a:moveTo>
                  <a:pt x="0" y="0"/>
                </a:moveTo>
                <a:lnTo>
                  <a:pt x="925811" y="0"/>
                </a:lnTo>
                <a:lnTo>
                  <a:pt x="925811" y="723815"/>
                </a:lnTo>
                <a:lnTo>
                  <a:pt x="0" y="7238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0" y="7634387"/>
            <a:ext cx="18342575" cy="2652613"/>
            <a:chOff x="0" y="0"/>
            <a:chExt cx="24456767" cy="3536818"/>
          </a:xfrm>
        </p:grpSpPr>
        <p:sp>
          <p:nvSpPr>
            <p:cNvPr id="13" name="Freeform 13"/>
            <p:cNvSpPr/>
            <p:nvPr/>
          </p:nvSpPr>
          <p:spPr>
            <a:xfrm rot="-5400000">
              <a:off x="-21497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8" y="0"/>
                  </a:lnTo>
                  <a:lnTo>
                    <a:pt x="3536818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rot="-5400000">
              <a:off x="3472327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8" y="0"/>
                  </a:lnTo>
                  <a:lnTo>
                    <a:pt x="3536818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-5400000">
              <a:off x="6966151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8" y="0"/>
                  </a:lnTo>
                  <a:lnTo>
                    <a:pt x="3536818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-5400000">
              <a:off x="10459975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7" y="0"/>
                  </a:lnTo>
                  <a:lnTo>
                    <a:pt x="3536817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 rot="-5400000">
              <a:off x="13953799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7" y="0"/>
                  </a:lnTo>
                  <a:lnTo>
                    <a:pt x="3536817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-5400000">
              <a:off x="17447623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7" y="0"/>
                  </a:lnTo>
                  <a:lnTo>
                    <a:pt x="3536817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-5400000">
              <a:off x="20941446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8" y="0"/>
                  </a:lnTo>
                  <a:lnTo>
                    <a:pt x="3536818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3000"/>
              </a:blip>
              <a:stretch>
                <a:fillRect l="-182581" t="-38560" r="-76352" b="-154844"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3367764" y="7015391"/>
            <a:ext cx="925811" cy="723816"/>
          </a:xfrm>
          <a:custGeom>
            <a:avLst/>
            <a:gdLst/>
            <a:ahLst/>
            <a:cxnLst/>
            <a:rect l="l" t="t" r="r" b="b"/>
            <a:pathLst>
              <a:path w="925811" h="723816">
                <a:moveTo>
                  <a:pt x="0" y="0"/>
                </a:moveTo>
                <a:lnTo>
                  <a:pt x="925811" y="0"/>
                </a:lnTo>
                <a:lnTo>
                  <a:pt x="925811" y="723815"/>
                </a:lnTo>
                <a:lnTo>
                  <a:pt x="0" y="7238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830669" y="4111121"/>
            <a:ext cx="10433599" cy="1617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057"/>
              </a:lnSpc>
            </a:pPr>
            <a:r>
              <a:rPr lang="ar-EG" sz="5408" b="1" spc="12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اليوم الوطني السعودي </a:t>
            </a:r>
          </a:p>
          <a:p>
            <a:pPr algn="ctr">
              <a:lnSpc>
                <a:spcPts val="6057"/>
              </a:lnSpc>
            </a:pPr>
            <a:r>
              <a:rPr lang="en-US" sz="5408" b="1" spc="12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96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52639" y="6168782"/>
            <a:ext cx="7237297" cy="1005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019"/>
              </a:lnSpc>
            </a:pPr>
            <a:r>
              <a:rPr lang="ar-EG" sz="3200" spc="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/>
              </a:rPr>
              <a:t>وطن نفتخر به…ومستقبل نصنعه</a:t>
            </a:r>
          </a:p>
          <a:p>
            <a:pPr algn="ctr">
              <a:lnSpc>
                <a:spcPts val="4019"/>
              </a:lnSpc>
            </a:pPr>
            <a:r>
              <a:rPr lang="en-US" sz="3200" spc="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23 </a:t>
            </a:r>
            <a:r>
              <a:rPr lang="ar-EG" sz="3200" spc="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/>
              </a:rPr>
              <a:t>سبتمبر</a:t>
            </a:r>
            <a:r>
              <a:rPr lang="en-US" sz="3200" spc="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79620" y="0"/>
            <a:ext cx="5449025" cy="10287000"/>
            <a:chOff x="0" y="0"/>
            <a:chExt cx="844197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4197" cy="1593725"/>
            </a:xfrm>
            <a:custGeom>
              <a:avLst/>
              <a:gdLst/>
              <a:ahLst/>
              <a:cxnLst/>
              <a:rect l="l" t="t" r="r" b="b"/>
              <a:pathLst>
                <a:path w="844197" h="1593725">
                  <a:moveTo>
                    <a:pt x="0" y="0"/>
                  </a:moveTo>
                  <a:lnTo>
                    <a:pt x="844197" y="0"/>
                  </a:lnTo>
                  <a:lnTo>
                    <a:pt x="84419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22526" r="-6065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8455017"/>
            <a:ext cx="1831983" cy="1831983"/>
          </a:xfrm>
          <a:custGeom>
            <a:avLst/>
            <a:gdLst/>
            <a:ahLst/>
            <a:cxnLst/>
            <a:rect l="l" t="t" r="r" b="b"/>
            <a:pathLst>
              <a:path w="1831983" h="1831983">
                <a:moveTo>
                  <a:pt x="0" y="0"/>
                </a:moveTo>
                <a:lnTo>
                  <a:pt x="1831983" y="0"/>
                </a:lnTo>
                <a:lnTo>
                  <a:pt x="1831983" y="1831983"/>
                </a:lnTo>
                <a:lnTo>
                  <a:pt x="0" y="1831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086" t="-145893" r="-82338" b="-4743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604081" y="952500"/>
            <a:ext cx="5476452" cy="1212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624"/>
              </a:lnSpc>
            </a:pPr>
            <a:r>
              <a:rPr lang="ar-EG" sz="3682" b="1">
                <a:solidFill>
                  <a:srgbClr val="6ABB43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ما هو اليوم الوطني السعودي؟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31983" y="2730274"/>
            <a:ext cx="9099583" cy="5724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008"/>
              </a:lnSpc>
            </a:pPr>
            <a:r>
              <a:rPr lang="ar-EG" sz="3987" b="1">
                <a:solidFill>
                  <a:srgbClr val="03180C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يحتفل باليوم الوطني للمملكة العربية السعودية في </a:t>
            </a:r>
            <a:r>
              <a:rPr lang="en-US" sz="3987" b="1">
                <a:solidFill>
                  <a:srgbClr val="03180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23</a:t>
            </a:r>
            <a:r>
              <a:rPr lang="ar-EG" sz="3987" b="1">
                <a:solidFill>
                  <a:srgbClr val="03180C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 سبتمبر من كل عام.</a:t>
            </a:r>
          </a:p>
          <a:p>
            <a:pPr algn="ctr">
              <a:lnSpc>
                <a:spcPts val="5008"/>
              </a:lnSpc>
            </a:pPr>
            <a:r>
              <a:rPr lang="ar-EG" sz="3987" b="1">
                <a:solidFill>
                  <a:srgbClr val="03180C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ويخلّد ذكرى توحيد المملكة على يد الملك عبدالعزيز بن عبدالرحمن آل سعود - رحمه الله - عام </a:t>
            </a:r>
            <a:r>
              <a:rPr lang="en-US" sz="3987" b="1">
                <a:solidFill>
                  <a:srgbClr val="03180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1932</a:t>
            </a:r>
            <a:r>
              <a:rPr lang="ar-EG" sz="3987" b="1">
                <a:solidFill>
                  <a:srgbClr val="03180C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م</a:t>
            </a:r>
            <a:r>
              <a:rPr lang="en-US" sz="3987" b="1">
                <a:solidFill>
                  <a:srgbClr val="03180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.</a:t>
            </a:r>
          </a:p>
          <a:p>
            <a:pPr algn="ctr">
              <a:lnSpc>
                <a:spcPts val="5008"/>
              </a:lnSpc>
            </a:pPr>
            <a:r>
              <a:rPr lang="ar-EG" sz="3987" b="1">
                <a:solidFill>
                  <a:srgbClr val="03180C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وهو مناسبة وطنية تعبّر عن الفخر بتاريخ المملكة ووحدتها وإنجازاتها</a:t>
            </a:r>
          </a:p>
          <a:p>
            <a:pPr algn="ctr">
              <a:lnSpc>
                <a:spcPts val="5008"/>
              </a:lnSpc>
            </a:pPr>
            <a:endParaRPr lang="ar-EG" sz="3987" b="1">
              <a:solidFill>
                <a:srgbClr val="03180C"/>
              </a:solidFill>
              <a:latin typeface="Codec Pro Bold"/>
              <a:ea typeface="Codec Pro Bold"/>
              <a:cs typeface="Codec Pro Bold"/>
              <a:sym typeface="Codec Pro Bold"/>
              <a:rtl/>
            </a:endParaRPr>
          </a:p>
          <a:p>
            <a:pPr algn="ctr" rtl="1">
              <a:lnSpc>
                <a:spcPts val="5008"/>
              </a:lnSpc>
            </a:pPr>
            <a:endParaRPr lang="ar-EG" sz="3987" b="1">
              <a:solidFill>
                <a:srgbClr val="03180C"/>
              </a:solidFill>
              <a:latin typeface="Codec Pro Bold"/>
              <a:ea typeface="Codec Pro Bold"/>
              <a:cs typeface="Codec Pro Bold"/>
              <a:sym typeface="Codec Pro Bold"/>
              <a:rtl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812933" y="8455017"/>
            <a:ext cx="1831983" cy="1831983"/>
          </a:xfrm>
          <a:custGeom>
            <a:avLst/>
            <a:gdLst/>
            <a:ahLst/>
            <a:cxnLst/>
            <a:rect l="l" t="t" r="r" b="b"/>
            <a:pathLst>
              <a:path w="1831983" h="1831983">
                <a:moveTo>
                  <a:pt x="0" y="0"/>
                </a:moveTo>
                <a:lnTo>
                  <a:pt x="1831984" y="0"/>
                </a:lnTo>
                <a:lnTo>
                  <a:pt x="1831984" y="1831983"/>
                </a:lnTo>
                <a:lnTo>
                  <a:pt x="0" y="1831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086" t="-145893" r="-82338" b="-4743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625867" y="8455017"/>
            <a:ext cx="1831983" cy="1831983"/>
          </a:xfrm>
          <a:custGeom>
            <a:avLst/>
            <a:gdLst/>
            <a:ahLst/>
            <a:cxnLst/>
            <a:rect l="l" t="t" r="r" b="b"/>
            <a:pathLst>
              <a:path w="1831983" h="1831983">
                <a:moveTo>
                  <a:pt x="0" y="0"/>
                </a:moveTo>
                <a:lnTo>
                  <a:pt x="1831983" y="0"/>
                </a:lnTo>
                <a:lnTo>
                  <a:pt x="1831983" y="1831983"/>
                </a:lnTo>
                <a:lnTo>
                  <a:pt x="0" y="1831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086" t="-145893" r="-82338" b="-4743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438800" y="8455017"/>
            <a:ext cx="1831983" cy="1831983"/>
          </a:xfrm>
          <a:custGeom>
            <a:avLst/>
            <a:gdLst/>
            <a:ahLst/>
            <a:cxnLst/>
            <a:rect l="l" t="t" r="r" b="b"/>
            <a:pathLst>
              <a:path w="1831983" h="1831983">
                <a:moveTo>
                  <a:pt x="0" y="0"/>
                </a:moveTo>
                <a:lnTo>
                  <a:pt x="1831983" y="0"/>
                </a:lnTo>
                <a:lnTo>
                  <a:pt x="1831983" y="1831983"/>
                </a:lnTo>
                <a:lnTo>
                  <a:pt x="0" y="1831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086" t="-145893" r="-82338" b="-47434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248550" y="8455017"/>
            <a:ext cx="1831983" cy="1831983"/>
          </a:xfrm>
          <a:custGeom>
            <a:avLst/>
            <a:gdLst/>
            <a:ahLst/>
            <a:cxnLst/>
            <a:rect l="l" t="t" r="r" b="b"/>
            <a:pathLst>
              <a:path w="1831983" h="1831983">
                <a:moveTo>
                  <a:pt x="0" y="0"/>
                </a:moveTo>
                <a:lnTo>
                  <a:pt x="1831983" y="0"/>
                </a:lnTo>
                <a:lnTo>
                  <a:pt x="1831983" y="1831983"/>
                </a:lnTo>
                <a:lnTo>
                  <a:pt x="0" y="1831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086" t="-145893" r="-82338" b="-47434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080533" y="8455017"/>
            <a:ext cx="1831983" cy="1831983"/>
          </a:xfrm>
          <a:custGeom>
            <a:avLst/>
            <a:gdLst/>
            <a:ahLst/>
            <a:cxnLst/>
            <a:rect l="l" t="t" r="r" b="b"/>
            <a:pathLst>
              <a:path w="1831983" h="1831983">
                <a:moveTo>
                  <a:pt x="0" y="0"/>
                </a:moveTo>
                <a:lnTo>
                  <a:pt x="1831983" y="0"/>
                </a:lnTo>
                <a:lnTo>
                  <a:pt x="1831983" y="1831983"/>
                </a:lnTo>
                <a:lnTo>
                  <a:pt x="0" y="1831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086" t="-145893" r="-82338" b="-47434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912516" y="8455017"/>
            <a:ext cx="1831983" cy="1831983"/>
          </a:xfrm>
          <a:custGeom>
            <a:avLst/>
            <a:gdLst/>
            <a:ahLst/>
            <a:cxnLst/>
            <a:rect l="l" t="t" r="r" b="b"/>
            <a:pathLst>
              <a:path w="1831983" h="1831983">
                <a:moveTo>
                  <a:pt x="0" y="0"/>
                </a:moveTo>
                <a:lnTo>
                  <a:pt x="1831984" y="0"/>
                </a:lnTo>
                <a:lnTo>
                  <a:pt x="1831984" y="1831983"/>
                </a:lnTo>
                <a:lnTo>
                  <a:pt x="0" y="1831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086" t="-145893" r="-82338" b="-4743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44500" y="8455017"/>
            <a:ext cx="435120" cy="1831983"/>
          </a:xfrm>
          <a:custGeom>
            <a:avLst/>
            <a:gdLst/>
            <a:ahLst/>
            <a:cxnLst/>
            <a:rect l="l" t="t" r="r" b="b"/>
            <a:pathLst>
              <a:path w="435120" h="1831983">
                <a:moveTo>
                  <a:pt x="0" y="0"/>
                </a:moveTo>
                <a:lnTo>
                  <a:pt x="435120" y="0"/>
                </a:lnTo>
                <a:lnTo>
                  <a:pt x="435120" y="1831983"/>
                </a:lnTo>
                <a:lnTo>
                  <a:pt x="0" y="1831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62428" t="-145893" r="-667696" b="-47434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B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6279" y="1464017"/>
            <a:ext cx="9087612" cy="2213639"/>
            <a:chOff x="0" y="0"/>
            <a:chExt cx="2393445" cy="583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93445" cy="583016"/>
            </a:xfrm>
            <a:custGeom>
              <a:avLst/>
              <a:gdLst/>
              <a:ahLst/>
              <a:cxnLst/>
              <a:rect l="l" t="t" r="r" b="b"/>
              <a:pathLst>
                <a:path w="2393445" h="583016">
                  <a:moveTo>
                    <a:pt x="9371" y="0"/>
                  </a:moveTo>
                  <a:lnTo>
                    <a:pt x="2384074" y="0"/>
                  </a:lnTo>
                  <a:cubicBezTo>
                    <a:pt x="2389250" y="0"/>
                    <a:pt x="2393445" y="4196"/>
                    <a:pt x="2393445" y="9371"/>
                  </a:cubicBezTo>
                  <a:lnTo>
                    <a:pt x="2393445" y="573645"/>
                  </a:lnTo>
                  <a:cubicBezTo>
                    <a:pt x="2393445" y="578820"/>
                    <a:pt x="2389250" y="583016"/>
                    <a:pt x="2384074" y="583016"/>
                  </a:cubicBezTo>
                  <a:lnTo>
                    <a:pt x="9371" y="583016"/>
                  </a:lnTo>
                  <a:cubicBezTo>
                    <a:pt x="4196" y="583016"/>
                    <a:pt x="0" y="578820"/>
                    <a:pt x="0" y="573645"/>
                  </a:cubicBezTo>
                  <a:lnTo>
                    <a:pt x="0" y="9371"/>
                  </a:lnTo>
                  <a:cubicBezTo>
                    <a:pt x="0" y="4196"/>
                    <a:pt x="4196" y="0"/>
                    <a:pt x="9371" y="0"/>
                  </a:cubicBezTo>
                  <a:close/>
                </a:path>
              </a:pathLst>
            </a:custGeom>
            <a:solidFill>
              <a:srgbClr val="EBE1DB">
                <a:alpha val="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393445" cy="630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66279" y="4033754"/>
            <a:ext cx="9087612" cy="2213639"/>
            <a:chOff x="0" y="0"/>
            <a:chExt cx="2393445" cy="5830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93445" cy="583016"/>
            </a:xfrm>
            <a:custGeom>
              <a:avLst/>
              <a:gdLst/>
              <a:ahLst/>
              <a:cxnLst/>
              <a:rect l="l" t="t" r="r" b="b"/>
              <a:pathLst>
                <a:path w="2393445" h="583016">
                  <a:moveTo>
                    <a:pt x="9371" y="0"/>
                  </a:moveTo>
                  <a:lnTo>
                    <a:pt x="2384074" y="0"/>
                  </a:lnTo>
                  <a:cubicBezTo>
                    <a:pt x="2389250" y="0"/>
                    <a:pt x="2393445" y="4196"/>
                    <a:pt x="2393445" y="9371"/>
                  </a:cubicBezTo>
                  <a:lnTo>
                    <a:pt x="2393445" y="573645"/>
                  </a:lnTo>
                  <a:cubicBezTo>
                    <a:pt x="2393445" y="578820"/>
                    <a:pt x="2389250" y="583016"/>
                    <a:pt x="2384074" y="583016"/>
                  </a:cubicBezTo>
                  <a:lnTo>
                    <a:pt x="9371" y="583016"/>
                  </a:lnTo>
                  <a:cubicBezTo>
                    <a:pt x="4196" y="583016"/>
                    <a:pt x="0" y="578820"/>
                    <a:pt x="0" y="573645"/>
                  </a:cubicBezTo>
                  <a:lnTo>
                    <a:pt x="0" y="9371"/>
                  </a:lnTo>
                  <a:cubicBezTo>
                    <a:pt x="0" y="4196"/>
                    <a:pt x="4196" y="0"/>
                    <a:pt x="9371" y="0"/>
                  </a:cubicBezTo>
                  <a:close/>
                </a:path>
              </a:pathLst>
            </a:custGeom>
            <a:solidFill>
              <a:srgbClr val="EBE1DB">
                <a:alpha val="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393445" cy="630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6279" y="6609343"/>
            <a:ext cx="9087612" cy="2213639"/>
            <a:chOff x="0" y="0"/>
            <a:chExt cx="2393445" cy="5830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93445" cy="583016"/>
            </a:xfrm>
            <a:custGeom>
              <a:avLst/>
              <a:gdLst/>
              <a:ahLst/>
              <a:cxnLst/>
              <a:rect l="l" t="t" r="r" b="b"/>
              <a:pathLst>
                <a:path w="2393445" h="583016">
                  <a:moveTo>
                    <a:pt x="9371" y="0"/>
                  </a:moveTo>
                  <a:lnTo>
                    <a:pt x="2384074" y="0"/>
                  </a:lnTo>
                  <a:cubicBezTo>
                    <a:pt x="2389250" y="0"/>
                    <a:pt x="2393445" y="4196"/>
                    <a:pt x="2393445" y="9371"/>
                  </a:cubicBezTo>
                  <a:lnTo>
                    <a:pt x="2393445" y="573645"/>
                  </a:lnTo>
                  <a:cubicBezTo>
                    <a:pt x="2393445" y="578820"/>
                    <a:pt x="2389250" y="583016"/>
                    <a:pt x="2384074" y="583016"/>
                  </a:cubicBezTo>
                  <a:lnTo>
                    <a:pt x="9371" y="583016"/>
                  </a:lnTo>
                  <a:cubicBezTo>
                    <a:pt x="4196" y="583016"/>
                    <a:pt x="0" y="578820"/>
                    <a:pt x="0" y="573645"/>
                  </a:cubicBezTo>
                  <a:lnTo>
                    <a:pt x="0" y="9371"/>
                  </a:lnTo>
                  <a:cubicBezTo>
                    <a:pt x="0" y="4196"/>
                    <a:pt x="4196" y="0"/>
                    <a:pt x="9371" y="0"/>
                  </a:cubicBezTo>
                  <a:close/>
                </a:path>
              </a:pathLst>
            </a:custGeom>
            <a:solidFill>
              <a:srgbClr val="EBE1DB">
                <a:alpha val="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393445" cy="630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87031" y="1471830"/>
            <a:ext cx="211970" cy="2205827"/>
            <a:chOff x="0" y="0"/>
            <a:chExt cx="55828" cy="5809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828" cy="580958"/>
            </a:xfrm>
            <a:custGeom>
              <a:avLst/>
              <a:gdLst/>
              <a:ahLst/>
              <a:cxnLst/>
              <a:rect l="l" t="t" r="r" b="b"/>
              <a:pathLst>
                <a:path w="55828" h="580958">
                  <a:moveTo>
                    <a:pt x="0" y="0"/>
                  </a:moveTo>
                  <a:lnTo>
                    <a:pt x="55828" y="0"/>
                  </a:lnTo>
                  <a:lnTo>
                    <a:pt x="55828" y="580958"/>
                  </a:lnTo>
                  <a:lnTo>
                    <a:pt x="0" y="580958"/>
                  </a:ln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5828" cy="62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87031" y="4041567"/>
            <a:ext cx="211970" cy="2205827"/>
            <a:chOff x="0" y="0"/>
            <a:chExt cx="55828" cy="5809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828" cy="580958"/>
            </a:xfrm>
            <a:custGeom>
              <a:avLst/>
              <a:gdLst/>
              <a:ahLst/>
              <a:cxnLst/>
              <a:rect l="l" t="t" r="r" b="b"/>
              <a:pathLst>
                <a:path w="55828" h="580958">
                  <a:moveTo>
                    <a:pt x="0" y="0"/>
                  </a:moveTo>
                  <a:lnTo>
                    <a:pt x="55828" y="0"/>
                  </a:lnTo>
                  <a:lnTo>
                    <a:pt x="55828" y="580958"/>
                  </a:lnTo>
                  <a:lnTo>
                    <a:pt x="0" y="580958"/>
                  </a:ln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55828" cy="62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87031" y="6617156"/>
            <a:ext cx="211970" cy="2205827"/>
            <a:chOff x="0" y="0"/>
            <a:chExt cx="55828" cy="58095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5828" cy="580958"/>
            </a:xfrm>
            <a:custGeom>
              <a:avLst/>
              <a:gdLst/>
              <a:ahLst/>
              <a:cxnLst/>
              <a:rect l="l" t="t" r="r" b="b"/>
              <a:pathLst>
                <a:path w="55828" h="580958">
                  <a:moveTo>
                    <a:pt x="0" y="0"/>
                  </a:moveTo>
                  <a:lnTo>
                    <a:pt x="55828" y="0"/>
                  </a:lnTo>
                  <a:lnTo>
                    <a:pt x="55828" y="580958"/>
                  </a:lnTo>
                  <a:lnTo>
                    <a:pt x="0" y="580958"/>
                  </a:lnTo>
                  <a:close/>
                </a:path>
              </a:pathLst>
            </a:custGeom>
            <a:solidFill>
              <a:srgbClr val="6ABB4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55828" cy="62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8223253" y="7097711"/>
            <a:ext cx="1158520" cy="1158520"/>
          </a:xfrm>
          <a:custGeom>
            <a:avLst/>
            <a:gdLst/>
            <a:ahLst/>
            <a:cxnLst/>
            <a:rect l="l" t="t" r="r" b="b"/>
            <a:pathLst>
              <a:path w="1158520" h="1158520">
                <a:moveTo>
                  <a:pt x="0" y="0"/>
                </a:moveTo>
                <a:lnTo>
                  <a:pt x="1158520" y="0"/>
                </a:lnTo>
                <a:lnTo>
                  <a:pt x="1158520" y="1158520"/>
                </a:lnTo>
                <a:lnTo>
                  <a:pt x="0" y="1158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36" t="-26877" r="-44616" b="-25549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806024" y="2493545"/>
            <a:ext cx="6430415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ar-EG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/>
              </a:rPr>
              <a:t>يرمز إلى التوحيد والقوة والثباب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6024" y="5063282"/>
            <a:ext cx="6430415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ar-EG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/>
              </a:rPr>
              <a:t>السيفان والنخلة، ويرمزان إلى القوة والرخاء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06024" y="7638871"/>
            <a:ext cx="6430415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ar-EG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/>
              </a:rPr>
              <a:t>تعبّر عن الانتماء والفخر بالمملكة وتراثها وحاضرها ومستقبلها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64032" y="1954315"/>
            <a:ext cx="4714399" cy="366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637"/>
              </a:lnSpc>
            </a:pPr>
            <a:r>
              <a:rPr lang="ar-EG" sz="2100" b="1" spc="197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العلم السعودي:</a:t>
            </a:r>
            <a:r>
              <a:rPr lang="en-US" sz="2100" b="1" spc="197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🇸🇦</a:t>
            </a:r>
            <a:r>
              <a:rPr lang="ar-EG" sz="2100" b="1" spc="197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31679" y="4525767"/>
            <a:ext cx="4714399" cy="366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637"/>
              </a:lnSpc>
            </a:pPr>
            <a:r>
              <a:rPr lang="ar-EG" sz="2100" b="1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الشعار الوطني🌴: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5339533"/>
            <a:ext cx="5389245" cy="71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08"/>
              </a:lnSpc>
            </a:pPr>
            <a:r>
              <a:rPr lang="ar-EG" sz="414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رموز وطنية نفتخر بها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31679" y="7099641"/>
            <a:ext cx="4714399" cy="366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637"/>
              </a:lnSpc>
            </a:pPr>
            <a:r>
              <a:rPr lang="ar-EG" sz="2100" b="1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الهوية الوطنية: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23253" y="6696298"/>
            <a:ext cx="1158520" cy="1968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45"/>
              </a:lnSpc>
            </a:pPr>
            <a:r>
              <a:rPr lang="en-US" sz="11421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3</a:t>
            </a:r>
          </a:p>
        </p:txBody>
      </p:sp>
      <p:sp>
        <p:nvSpPr>
          <p:cNvPr id="29" name="Freeform 29"/>
          <p:cNvSpPr/>
          <p:nvPr/>
        </p:nvSpPr>
        <p:spPr>
          <a:xfrm>
            <a:off x="8223253" y="4580604"/>
            <a:ext cx="1158520" cy="1158520"/>
          </a:xfrm>
          <a:custGeom>
            <a:avLst/>
            <a:gdLst/>
            <a:ahLst/>
            <a:cxnLst/>
            <a:rect l="l" t="t" r="r" b="b"/>
            <a:pathLst>
              <a:path w="1158520" h="1158520">
                <a:moveTo>
                  <a:pt x="0" y="0"/>
                </a:moveTo>
                <a:lnTo>
                  <a:pt x="1158520" y="0"/>
                </a:lnTo>
                <a:lnTo>
                  <a:pt x="1158520" y="1158520"/>
                </a:lnTo>
                <a:lnTo>
                  <a:pt x="0" y="1158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36" t="-26877" r="-44616" b="-25549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8223253" y="4163297"/>
            <a:ext cx="1158520" cy="1968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45"/>
              </a:lnSpc>
            </a:pPr>
            <a:r>
              <a:rPr lang="en-US" sz="11421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</a:t>
            </a:r>
          </a:p>
        </p:txBody>
      </p:sp>
      <p:sp>
        <p:nvSpPr>
          <p:cNvPr id="31" name="Freeform 31"/>
          <p:cNvSpPr/>
          <p:nvPr/>
        </p:nvSpPr>
        <p:spPr>
          <a:xfrm>
            <a:off x="8223253" y="1952385"/>
            <a:ext cx="1158520" cy="1158520"/>
          </a:xfrm>
          <a:custGeom>
            <a:avLst/>
            <a:gdLst/>
            <a:ahLst/>
            <a:cxnLst/>
            <a:rect l="l" t="t" r="r" b="b"/>
            <a:pathLst>
              <a:path w="1158520" h="1158520">
                <a:moveTo>
                  <a:pt x="0" y="0"/>
                </a:moveTo>
                <a:lnTo>
                  <a:pt x="1158520" y="0"/>
                </a:lnTo>
                <a:lnTo>
                  <a:pt x="1158520" y="1158520"/>
                </a:lnTo>
                <a:lnTo>
                  <a:pt x="0" y="1158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36" t="-26877" r="-44616" b="-25549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8223253" y="1543030"/>
            <a:ext cx="1158520" cy="1968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45"/>
              </a:lnSpc>
            </a:pPr>
            <a:r>
              <a:rPr lang="en-US" sz="11421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6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82257" y="1296086"/>
            <a:ext cx="9885187" cy="75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400"/>
              </a:lnSpc>
            </a:pPr>
            <a:r>
              <a:rPr lang="ar-EG" sz="4299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قصة توحيد المملكة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92252" y="3066918"/>
            <a:ext cx="12892293" cy="546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395"/>
              </a:lnSpc>
            </a:pPr>
            <a:r>
              <a:rPr lang="ar-EG" sz="4295" b="1">
                <a:solidFill>
                  <a:srgbClr val="6ABB43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بدأت رحلة توحيد مناطق المملكة بقيادة الملك عبدالعزيز - رحمه الله.</a:t>
            </a:r>
          </a:p>
          <a:p>
            <a:pPr algn="ctr" rtl="1">
              <a:lnSpc>
                <a:spcPts val="5395"/>
              </a:lnSpc>
            </a:pPr>
            <a:r>
              <a:rPr lang="ar-EG" sz="4295" b="1">
                <a:solidFill>
                  <a:srgbClr val="6ABB43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واستمرت جهود التوحيد لسنوات حتى صدر المرسوم الملكي بتوحيد البلاد باسم المملكة العربية السعودية.</a:t>
            </a:r>
          </a:p>
          <a:p>
            <a:pPr algn="ctr" rtl="1">
              <a:lnSpc>
                <a:spcPts val="5395"/>
              </a:lnSpc>
            </a:pPr>
            <a:r>
              <a:rPr lang="ar-EG" sz="4295" b="1">
                <a:solidFill>
                  <a:srgbClr val="6ABB43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وفي </a:t>
            </a:r>
            <a:r>
              <a:rPr lang="en-US" sz="4295" b="1">
                <a:solidFill>
                  <a:srgbClr val="6ABB4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23</a:t>
            </a:r>
            <a:r>
              <a:rPr lang="ar-EG" sz="4295" b="1">
                <a:solidFill>
                  <a:srgbClr val="6ABB43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 سبتمبر </a:t>
            </a:r>
            <a:r>
              <a:rPr lang="en-US" sz="4295" b="1">
                <a:solidFill>
                  <a:srgbClr val="6ABB4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1932</a:t>
            </a:r>
            <a:r>
              <a:rPr lang="ar-EG" sz="4295" b="1">
                <a:solidFill>
                  <a:srgbClr val="6ABB43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م بدأت مرحلة جديدة من الوحدة والاستقرار وبناء الدولة الحديثة</a:t>
            </a:r>
          </a:p>
          <a:p>
            <a:pPr algn="ctr" rtl="1">
              <a:lnSpc>
                <a:spcPts val="5395"/>
              </a:lnSpc>
            </a:pPr>
            <a:endParaRPr lang="ar-EG" sz="4295" b="1">
              <a:solidFill>
                <a:srgbClr val="6ABB43"/>
              </a:solidFill>
              <a:latin typeface="Codec Pro Bold"/>
              <a:ea typeface="Codec Pro Bold"/>
              <a:cs typeface="Codec Pro Bold"/>
              <a:sym typeface="Codec Pro Bold"/>
              <a:rtl/>
            </a:endParaRPr>
          </a:p>
        </p:txBody>
      </p:sp>
      <p:sp>
        <p:nvSpPr>
          <p:cNvPr id="4" name="Freeform 4"/>
          <p:cNvSpPr/>
          <p:nvPr/>
        </p:nvSpPr>
        <p:spPr>
          <a:xfrm rot="-5400000">
            <a:off x="0" y="10285445"/>
            <a:ext cx="2585929" cy="2585929"/>
          </a:xfrm>
          <a:custGeom>
            <a:avLst/>
            <a:gdLst/>
            <a:ahLst/>
            <a:cxnLst/>
            <a:rect l="l" t="t" r="r" b="b"/>
            <a:pathLst>
              <a:path w="2585929" h="2585929">
                <a:moveTo>
                  <a:pt x="0" y="0"/>
                </a:moveTo>
                <a:lnTo>
                  <a:pt x="2585929" y="0"/>
                </a:lnTo>
                <a:lnTo>
                  <a:pt x="2585929" y="2585929"/>
                </a:lnTo>
                <a:lnTo>
                  <a:pt x="0" y="25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086" t="-145893" r="-82338" b="-47434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0" y="7726405"/>
            <a:ext cx="2585929" cy="2585929"/>
          </a:xfrm>
          <a:custGeom>
            <a:avLst/>
            <a:gdLst/>
            <a:ahLst/>
            <a:cxnLst/>
            <a:rect l="l" t="t" r="r" b="b"/>
            <a:pathLst>
              <a:path w="2585929" h="2585929">
                <a:moveTo>
                  <a:pt x="0" y="0"/>
                </a:moveTo>
                <a:lnTo>
                  <a:pt x="2585929" y="0"/>
                </a:lnTo>
                <a:lnTo>
                  <a:pt x="2585929" y="2585930"/>
                </a:lnTo>
                <a:lnTo>
                  <a:pt x="0" y="2585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086" t="-145893" r="-82338" b="-47434"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0" y="5171859"/>
            <a:ext cx="2585929" cy="2585929"/>
          </a:xfrm>
          <a:custGeom>
            <a:avLst/>
            <a:gdLst/>
            <a:ahLst/>
            <a:cxnLst/>
            <a:rect l="l" t="t" r="r" b="b"/>
            <a:pathLst>
              <a:path w="2585929" h="2585929">
                <a:moveTo>
                  <a:pt x="0" y="0"/>
                </a:moveTo>
                <a:lnTo>
                  <a:pt x="2585929" y="0"/>
                </a:lnTo>
                <a:lnTo>
                  <a:pt x="2585929" y="2585929"/>
                </a:lnTo>
                <a:lnTo>
                  <a:pt x="0" y="25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086" t="-145893" r="-82338" b="-47434"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0" y="2585929"/>
            <a:ext cx="2585929" cy="2585929"/>
          </a:xfrm>
          <a:custGeom>
            <a:avLst/>
            <a:gdLst/>
            <a:ahLst/>
            <a:cxnLst/>
            <a:rect l="l" t="t" r="r" b="b"/>
            <a:pathLst>
              <a:path w="2585929" h="2585929">
                <a:moveTo>
                  <a:pt x="0" y="0"/>
                </a:moveTo>
                <a:lnTo>
                  <a:pt x="2585929" y="0"/>
                </a:lnTo>
                <a:lnTo>
                  <a:pt x="2585929" y="2585930"/>
                </a:lnTo>
                <a:lnTo>
                  <a:pt x="0" y="2585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086" t="-145893" r="-82338" b="-47434"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0" y="0"/>
            <a:ext cx="2585929" cy="2585929"/>
          </a:xfrm>
          <a:custGeom>
            <a:avLst/>
            <a:gdLst/>
            <a:ahLst/>
            <a:cxnLst/>
            <a:rect l="l" t="t" r="r" b="b"/>
            <a:pathLst>
              <a:path w="2585929" h="2585929">
                <a:moveTo>
                  <a:pt x="0" y="0"/>
                </a:moveTo>
                <a:lnTo>
                  <a:pt x="2585929" y="0"/>
                </a:lnTo>
                <a:lnTo>
                  <a:pt x="2585929" y="2585929"/>
                </a:lnTo>
                <a:lnTo>
                  <a:pt x="0" y="258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086" t="-145893" r="-82338" b="-47434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97490" y="1136814"/>
            <a:ext cx="9693021" cy="3760614"/>
            <a:chOff x="0" y="0"/>
            <a:chExt cx="2552894" cy="9904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52894" cy="990450"/>
            </a:xfrm>
            <a:custGeom>
              <a:avLst/>
              <a:gdLst/>
              <a:ahLst/>
              <a:cxnLst/>
              <a:rect l="l" t="t" r="r" b="b"/>
              <a:pathLst>
                <a:path w="2552894" h="990450">
                  <a:moveTo>
                    <a:pt x="8786" y="0"/>
                  </a:moveTo>
                  <a:lnTo>
                    <a:pt x="2544108" y="0"/>
                  </a:lnTo>
                  <a:cubicBezTo>
                    <a:pt x="2546439" y="0"/>
                    <a:pt x="2548673" y="926"/>
                    <a:pt x="2550321" y="2573"/>
                  </a:cubicBezTo>
                  <a:cubicBezTo>
                    <a:pt x="2551969" y="4221"/>
                    <a:pt x="2552894" y="6456"/>
                    <a:pt x="2552894" y="8786"/>
                  </a:cubicBezTo>
                  <a:lnTo>
                    <a:pt x="2552894" y="981664"/>
                  </a:lnTo>
                  <a:cubicBezTo>
                    <a:pt x="2552894" y="986516"/>
                    <a:pt x="2548961" y="990450"/>
                    <a:pt x="2544108" y="990450"/>
                  </a:cubicBezTo>
                  <a:lnTo>
                    <a:pt x="8786" y="990450"/>
                  </a:lnTo>
                  <a:cubicBezTo>
                    <a:pt x="3934" y="990450"/>
                    <a:pt x="0" y="986516"/>
                    <a:pt x="0" y="981664"/>
                  </a:cubicBezTo>
                  <a:lnTo>
                    <a:pt x="0" y="8786"/>
                  </a:lnTo>
                  <a:cubicBezTo>
                    <a:pt x="0" y="3934"/>
                    <a:pt x="3934" y="0"/>
                    <a:pt x="8786" y="0"/>
                  </a:cubicBezTo>
                  <a:close/>
                </a:path>
              </a:pathLst>
            </a:custGeom>
            <a:solidFill>
              <a:srgbClr val="026836">
                <a:alpha val="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52894" cy="103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97490" y="5316618"/>
            <a:ext cx="9693021" cy="3171232"/>
            <a:chOff x="0" y="0"/>
            <a:chExt cx="2552894" cy="8352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52894" cy="835222"/>
            </a:xfrm>
            <a:custGeom>
              <a:avLst/>
              <a:gdLst/>
              <a:ahLst/>
              <a:cxnLst/>
              <a:rect l="l" t="t" r="r" b="b"/>
              <a:pathLst>
                <a:path w="2552894" h="835222">
                  <a:moveTo>
                    <a:pt x="8786" y="0"/>
                  </a:moveTo>
                  <a:lnTo>
                    <a:pt x="2544108" y="0"/>
                  </a:lnTo>
                  <a:cubicBezTo>
                    <a:pt x="2546439" y="0"/>
                    <a:pt x="2548673" y="926"/>
                    <a:pt x="2550321" y="2573"/>
                  </a:cubicBezTo>
                  <a:cubicBezTo>
                    <a:pt x="2551969" y="4221"/>
                    <a:pt x="2552894" y="6456"/>
                    <a:pt x="2552894" y="8786"/>
                  </a:cubicBezTo>
                  <a:lnTo>
                    <a:pt x="2552894" y="826436"/>
                  </a:lnTo>
                  <a:cubicBezTo>
                    <a:pt x="2552894" y="831288"/>
                    <a:pt x="2548961" y="835222"/>
                    <a:pt x="2544108" y="835222"/>
                  </a:cubicBezTo>
                  <a:lnTo>
                    <a:pt x="8786" y="835222"/>
                  </a:lnTo>
                  <a:cubicBezTo>
                    <a:pt x="3934" y="835222"/>
                    <a:pt x="0" y="831288"/>
                    <a:pt x="0" y="826436"/>
                  </a:cubicBezTo>
                  <a:lnTo>
                    <a:pt x="0" y="8786"/>
                  </a:lnTo>
                  <a:cubicBezTo>
                    <a:pt x="0" y="3934"/>
                    <a:pt x="3934" y="0"/>
                    <a:pt x="8786" y="0"/>
                  </a:cubicBezTo>
                  <a:close/>
                </a:path>
              </a:pathLst>
            </a:custGeom>
            <a:solidFill>
              <a:srgbClr val="026836">
                <a:alpha val="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552894" cy="882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807682" y="5899352"/>
            <a:ext cx="5774455" cy="1733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3667" lvl="1" indent="-211834" algn="ctr">
              <a:lnSpc>
                <a:spcPts val="2747"/>
              </a:lnSpc>
              <a:buFont typeface="Arial"/>
              <a:buChar char="•"/>
            </a:pPr>
            <a:r>
              <a:rPr lang="ar-EG" sz="1962">
                <a:solidFill>
                  <a:srgbClr val="026836"/>
                </a:solidFill>
                <a:latin typeface="Montserrat"/>
                <a:ea typeface="Montserrat"/>
                <a:cs typeface="Montserrat"/>
                <a:sym typeface="Montserrat"/>
                <a:rtl/>
              </a:rPr>
              <a:t>الانتماء: نعتز بوطننا ونحافظ على مكتسباته</a:t>
            </a:r>
            <a:r>
              <a:rPr lang="en-US" sz="1962">
                <a:solidFill>
                  <a:srgbClr val="02683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423667" lvl="1" indent="-211834" algn="ctr">
              <a:lnSpc>
                <a:spcPts val="2747"/>
              </a:lnSpc>
              <a:buFont typeface="Arial"/>
              <a:buChar char="•"/>
            </a:pPr>
            <a:r>
              <a:rPr lang="ar-EG" sz="1962">
                <a:solidFill>
                  <a:srgbClr val="026836"/>
                </a:solidFill>
                <a:latin typeface="Montserrat"/>
                <a:ea typeface="Montserrat"/>
                <a:cs typeface="Montserrat"/>
                <a:sym typeface="Montserrat"/>
                <a:rtl/>
              </a:rPr>
              <a:t>المسؤولية: نساهم في خدمة مجتمعنا ووطننا</a:t>
            </a:r>
            <a:r>
              <a:rPr lang="en-US" sz="1962">
                <a:solidFill>
                  <a:srgbClr val="02683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423667" lvl="1" indent="-211834" algn="ctr">
              <a:lnSpc>
                <a:spcPts val="2747"/>
              </a:lnSpc>
              <a:buFont typeface="Arial"/>
              <a:buChar char="•"/>
            </a:pPr>
            <a:r>
              <a:rPr lang="ar-EG" sz="1962">
                <a:solidFill>
                  <a:srgbClr val="026836"/>
                </a:solidFill>
                <a:latin typeface="Montserrat"/>
                <a:ea typeface="Montserrat"/>
                <a:cs typeface="Montserrat"/>
                <a:sym typeface="Montserrat"/>
                <a:rtl/>
              </a:rPr>
              <a:t>الطموح: نتعلم ونبتكر من أجل مستقبل أفضل</a:t>
            </a:r>
            <a:r>
              <a:rPr lang="en-US" sz="1962">
                <a:solidFill>
                  <a:srgbClr val="02683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423667" lvl="1" indent="-211834" algn="ctr">
              <a:lnSpc>
                <a:spcPts val="2747"/>
              </a:lnSpc>
              <a:buFont typeface="Arial"/>
              <a:buChar char="•"/>
            </a:pPr>
            <a:r>
              <a:rPr lang="ar-EG" sz="1962">
                <a:solidFill>
                  <a:srgbClr val="026836"/>
                </a:solidFill>
                <a:latin typeface="Montserrat"/>
                <a:ea typeface="Montserrat"/>
                <a:cs typeface="Montserrat"/>
                <a:sym typeface="Montserrat"/>
                <a:rtl/>
              </a:rPr>
              <a:t>الوحدة: نفتخر بتكاتف أبناء الوطن وتعاونهم</a:t>
            </a:r>
          </a:p>
          <a:p>
            <a:pPr algn="ctr">
              <a:lnSpc>
                <a:spcPts val="2747"/>
              </a:lnSpc>
            </a:pPr>
            <a:endParaRPr lang="ar-EG" sz="1962">
              <a:solidFill>
                <a:srgbClr val="026836"/>
              </a:solidFill>
              <a:latin typeface="Montserrat"/>
              <a:ea typeface="Montserrat"/>
              <a:cs typeface="Montserrat"/>
              <a:sym typeface="Montserrat"/>
              <a:rtl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402567" y="2043435"/>
            <a:ext cx="6179570" cy="1899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6"/>
              </a:lnSpc>
            </a:pPr>
            <a:r>
              <a:rPr lang="ar-EG" sz="1677" b="1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تشهد المملكة تطورًا كبيرًا في مجالات متعددة، مثل التعليم والاقتصاد والتقنية والثقافة والسياحة</a:t>
            </a:r>
            <a:r>
              <a:rPr lang="en-US" sz="1677" b="1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.</a:t>
            </a:r>
          </a:p>
          <a:p>
            <a:pPr algn="ctr">
              <a:lnSpc>
                <a:spcPts val="2106"/>
              </a:lnSpc>
            </a:pPr>
            <a:r>
              <a:rPr lang="ar-EG" sz="1677" b="1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وتسعى رؤية السعودية </a:t>
            </a:r>
            <a:r>
              <a:rPr lang="en-US" sz="1677" b="1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2030</a:t>
            </a:r>
            <a:r>
              <a:rPr lang="ar-EG" sz="1677" b="1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 إلى بناء اقتصاد متنوع وتحسين جودة الحياة</a:t>
            </a:r>
            <a:r>
              <a:rPr lang="en-US" sz="1677" b="1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.</a:t>
            </a:r>
          </a:p>
          <a:p>
            <a:pPr algn="ctr">
              <a:lnSpc>
                <a:spcPts val="2106"/>
              </a:lnSpc>
            </a:pPr>
            <a:r>
              <a:rPr lang="ar-EG" sz="1677" b="1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كما يساهم أبناء وبنات الوطن في صناعة المستقبل بالعلم والطموح والابتكار</a:t>
            </a:r>
          </a:p>
          <a:p>
            <a:pPr algn="ctr">
              <a:lnSpc>
                <a:spcPts val="2106"/>
              </a:lnSpc>
            </a:pPr>
            <a:endParaRPr lang="ar-EG" sz="1677" b="1">
              <a:solidFill>
                <a:srgbClr val="026836"/>
              </a:solidFill>
              <a:latin typeface="Codec Pro Bold"/>
              <a:ea typeface="Codec Pro Bold"/>
              <a:cs typeface="Codec Pro Bold"/>
              <a:sym typeface="Codec Pro Bold"/>
              <a:rtl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688114" y="6090421"/>
            <a:ext cx="1973716" cy="6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637"/>
              </a:lnSpc>
            </a:pPr>
            <a:r>
              <a:rPr lang="ar-EG" sz="2100" b="1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قيم نعيشها في اليوم الوطني: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69225" y="2586539"/>
            <a:ext cx="1492606" cy="99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761"/>
              </a:lnSpc>
            </a:pPr>
            <a:r>
              <a:rPr lang="ar-EG" sz="2994" b="1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المملكة اليوم: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54575" y="8931000"/>
            <a:ext cx="18342575" cy="2652613"/>
            <a:chOff x="0" y="0"/>
            <a:chExt cx="24456767" cy="3536818"/>
          </a:xfrm>
        </p:grpSpPr>
        <p:sp>
          <p:nvSpPr>
            <p:cNvPr id="13" name="Freeform 13"/>
            <p:cNvSpPr/>
            <p:nvPr/>
          </p:nvSpPr>
          <p:spPr>
            <a:xfrm rot="-5400000">
              <a:off x="-21497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8" y="0"/>
                  </a:lnTo>
                  <a:lnTo>
                    <a:pt x="3536818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rot="-5400000">
              <a:off x="3472327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8" y="0"/>
                  </a:lnTo>
                  <a:lnTo>
                    <a:pt x="3536818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-5400000">
              <a:off x="6966151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8" y="0"/>
                  </a:lnTo>
                  <a:lnTo>
                    <a:pt x="3536818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-5400000">
              <a:off x="10459975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7" y="0"/>
                  </a:lnTo>
                  <a:lnTo>
                    <a:pt x="3536817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 rot="-5400000">
              <a:off x="13953799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7" y="0"/>
                  </a:lnTo>
                  <a:lnTo>
                    <a:pt x="3536817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-5400000">
              <a:off x="17447623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7" y="0"/>
                  </a:lnTo>
                  <a:lnTo>
                    <a:pt x="3536817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3000"/>
              </a:blip>
              <a:stretch>
                <a:fillRect l="-182581" t="-38560" r="-76352" b="-154844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-5400000">
              <a:off x="20941446" y="21497"/>
              <a:ext cx="3536818" cy="3493824"/>
            </a:xfrm>
            <a:custGeom>
              <a:avLst/>
              <a:gdLst/>
              <a:ahLst/>
              <a:cxnLst/>
              <a:rect l="l" t="t" r="r" b="b"/>
              <a:pathLst>
                <a:path w="3536818" h="3493824">
                  <a:moveTo>
                    <a:pt x="0" y="0"/>
                  </a:moveTo>
                  <a:lnTo>
                    <a:pt x="3536818" y="0"/>
                  </a:lnTo>
                  <a:lnTo>
                    <a:pt x="3536818" y="3493824"/>
                  </a:lnTo>
                  <a:lnTo>
                    <a:pt x="0" y="3493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3000"/>
              </a:blip>
              <a:stretch>
                <a:fillRect l="-182581" t="-38560" r="-76352" b="-154844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B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84861" y="-858640"/>
            <a:ext cx="7910904" cy="6385062"/>
          </a:xfrm>
          <a:custGeom>
            <a:avLst/>
            <a:gdLst/>
            <a:ahLst/>
            <a:cxnLst/>
            <a:rect l="l" t="t" r="r" b="b"/>
            <a:pathLst>
              <a:path w="7910904" h="6385062">
                <a:moveTo>
                  <a:pt x="0" y="0"/>
                </a:moveTo>
                <a:lnTo>
                  <a:pt x="7910904" y="0"/>
                </a:lnTo>
                <a:lnTo>
                  <a:pt x="7910904" y="6385062"/>
                </a:lnTo>
                <a:lnTo>
                  <a:pt x="0" y="6385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2801485"/>
            <a:ext cx="11429382" cy="106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7741"/>
              </a:lnSpc>
            </a:pPr>
            <a:r>
              <a:rPr lang="ar-EG" sz="6163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ختاما…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462477"/>
            <a:ext cx="10609226" cy="2955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647"/>
              </a:lnSpc>
            </a:pPr>
            <a:r>
              <a:rPr lang="ar-EG" sz="3699" b="1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كل عام ووطننا بخير وعز وفخر </a:t>
            </a:r>
            <a:r>
              <a:rPr lang="en-US" sz="3699" b="1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🇸🇦</a:t>
            </a:r>
          </a:p>
          <a:p>
            <a:pPr algn="ctr" rtl="1">
              <a:lnSpc>
                <a:spcPts val="4647"/>
              </a:lnSpc>
            </a:pPr>
            <a:r>
              <a:rPr lang="ar-EG" sz="3699" b="1">
                <a:solidFill>
                  <a:srgbClr val="026836"/>
                </a:solidFill>
                <a:latin typeface="Codec Pro Bold"/>
                <a:ea typeface="Codec Pro Bold"/>
                <a:cs typeface="Codec Pro Bold"/>
                <a:sym typeface="Codec Pro Bold"/>
                <a:rtl/>
              </a:rPr>
              <a:t>في يومنا الوطني، نحتفي بماضٍ عريق، ونفخر بحاضرٍ مزدهر، ونتطلع إلى مستقبلٍ مليء بالطموح والإنجاز</a:t>
            </a:r>
          </a:p>
          <a:p>
            <a:pPr algn="ctr" rtl="1">
              <a:lnSpc>
                <a:spcPts val="4647"/>
              </a:lnSpc>
            </a:pPr>
            <a:endParaRPr lang="ar-EG" sz="3699" b="1">
              <a:solidFill>
                <a:srgbClr val="026836"/>
              </a:solidFill>
              <a:latin typeface="Codec Pro Bold"/>
              <a:ea typeface="Codec Pro Bold"/>
              <a:cs typeface="Codec Pro Bold"/>
              <a:sym typeface="Codec Pro Bold"/>
              <a:rtl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2780589" y="8778037"/>
            <a:ext cx="10048213" cy="1882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025"/>
              </a:lnSpc>
            </a:pPr>
            <a:r>
              <a:rPr lang="ar-EG" sz="30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  <a:rtl/>
              </a:rPr>
              <a:t>غنى عليثه الجهني</a:t>
            </a:r>
          </a:p>
          <a:p>
            <a:pPr algn="ctr">
              <a:lnSpc>
                <a:spcPts val="5025"/>
              </a:lnSpc>
            </a:pPr>
            <a:r>
              <a:rPr lang="en-US" sz="30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3/1</a:t>
            </a:r>
          </a:p>
          <a:p>
            <a:pPr algn="ctr">
              <a:lnSpc>
                <a:spcPts val="5025"/>
              </a:lnSpc>
            </a:pPr>
            <a:endParaRPr lang="en-US" sz="3099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2084861" y="3862552"/>
            <a:ext cx="7910904" cy="6385062"/>
          </a:xfrm>
          <a:custGeom>
            <a:avLst/>
            <a:gdLst/>
            <a:ahLst/>
            <a:cxnLst/>
            <a:rect l="l" t="t" r="r" b="b"/>
            <a:pathLst>
              <a:path w="7910904" h="6385062">
                <a:moveTo>
                  <a:pt x="0" y="0"/>
                </a:moveTo>
                <a:lnTo>
                  <a:pt x="7910904" y="0"/>
                </a:lnTo>
                <a:lnTo>
                  <a:pt x="7910904" y="6385062"/>
                </a:lnTo>
                <a:lnTo>
                  <a:pt x="0" y="6385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084861" y="8583744"/>
            <a:ext cx="7910904" cy="6385062"/>
          </a:xfrm>
          <a:custGeom>
            <a:avLst/>
            <a:gdLst/>
            <a:ahLst/>
            <a:cxnLst/>
            <a:rect l="l" t="t" r="r" b="b"/>
            <a:pathLst>
              <a:path w="7910904" h="6385062">
                <a:moveTo>
                  <a:pt x="0" y="0"/>
                </a:moveTo>
                <a:lnTo>
                  <a:pt x="7910904" y="0"/>
                </a:lnTo>
                <a:lnTo>
                  <a:pt x="7910904" y="6385062"/>
                </a:lnTo>
                <a:lnTo>
                  <a:pt x="0" y="6385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مخصص</PresentationFormat>
  <Paragraphs>0</Paragraphs>
  <Slides>6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6</vt:i4>
      </vt:variant>
    </vt:vector>
  </HeadingPairs>
  <TitlesOfParts>
    <vt:vector size="7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اخضر و ابيض بسيط عن اليوم الوطني</dc:title>
  <cp:lastModifiedBy>غنى الجهني</cp:lastModifiedBy>
  <cp:revision>3</cp:revision>
  <dcterms:created xsi:type="dcterms:W3CDTF">2006-08-16T00:00:00Z</dcterms:created>
  <dcterms:modified xsi:type="dcterms:W3CDTF">2026-09-15T12:42:39Z</dcterms:modified>
  <dc:identifier>DAHU41Wc-Ag</dc:identifier>
</cp:coreProperties>
</file>